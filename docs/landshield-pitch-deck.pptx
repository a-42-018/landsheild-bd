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E1F36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0E1F36"/>
                </a:solidFill>
                <a:latin typeface="Calibri"/>
              </a:rPr>
              <a:t>Field accuracy, % (synthetic)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Fields correct</c:v>
                </c:pt>
              </c:strCache>
            </c:strRef>
          </c:tx>
          <c:spPr>
            <a:solidFill>
              <a:srgbClr val="006A4E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E1F36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Deeds, all (off)</c:v>
                  </c:pt>
                  <c:pt idx="1">
                    <c:v>Deeds, all (on)</c:v>
                  </c:pt>
                  <c:pt idx="2">
                    <c:v>Deeds, EN labels (on)</c:v>
                  </c:pt>
                  <c:pt idx="3">
                    <c:v>Bangla fields (off)</c:v>
                  </c:pt>
                  <c:pt idx="4">
                    <c:v>Bangla fields (on)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38.8</c:v>
                </c:pt>
                <c:pt idx="1">
                  <c:v>60</c:v>
                </c:pt>
                <c:pt idx="2">
                  <c:v>94</c:v>
                </c:pt>
                <c:pt idx="3">
                  <c:v>76.7</c:v>
                </c:pt>
                <c:pt idx="4">
                  <c:v>90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0E1F36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E1F36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6A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28016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LandShield BD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2860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Verify land before you buy: double-sale and forgery detection for Bangladesh land records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4747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6F2ED"/>
                </a:solidFill>
              </a:rPr>
              <a:t>LandTech 2026 · P3 Fraud &amp; Double-Selling · Team DEEDGUARD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F2ED"/>
                </a:solidFill>
              </a:rPr>
              <a:t>Alif Mahmud · Ayesha Hamid Mithila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LandShield BD · demo prototype, synthetic data, not a government system · 1/10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same plot can be sold twice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D78"/>
                </a:solidFill>
              </a:rPr>
              <a:t>LandShield BD · demo prototype, synthetic data, not a government system · 2/10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06040" cy="2377440"/>
          </a:xfrm>
          <a:prstGeom prst="roundRect">
            <a:avLst>
              <a:gd name="adj" fmla="val 2308"/>
            </a:avLst>
          </a:prstGeom>
          <a:solidFill>
            <a:srgbClr val="E6F2ED"/>
          </a:solidFill>
          <a:ln w="12700">
            <a:solidFill>
              <a:srgbClr val="D5DED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50876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6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~80 %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42316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E1F36"/>
                </a:solidFill>
              </a:rPr>
              <a:t>of court cases are land disputes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46120" y="1371600"/>
            <a:ext cx="2606040" cy="2377440"/>
          </a:xfrm>
          <a:prstGeom prst="roundRect">
            <a:avLst>
              <a:gd name="adj" fmla="val 2308"/>
            </a:avLst>
          </a:prstGeom>
          <a:solidFill>
            <a:srgbClr val="E6F2ED"/>
          </a:solidFill>
          <a:ln w="12700">
            <a:solidFill>
              <a:srgbClr val="D5DED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383280" y="150876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6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51 %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3383280" y="242316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E1F36"/>
                </a:solidFill>
              </a:rPr>
              <a:t>of households using land services faced corruption (TIB)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035040" y="1371600"/>
            <a:ext cx="2606040" cy="2377440"/>
          </a:xfrm>
          <a:prstGeom prst="roundRect">
            <a:avLst>
              <a:gd name="adj" fmla="val 2308"/>
            </a:avLst>
          </a:prstGeom>
          <a:solidFill>
            <a:srgbClr val="E6F2ED"/>
          </a:solidFill>
          <a:ln w="12700">
            <a:solidFill>
              <a:srgbClr val="D5DED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172200" y="150876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6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offices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6172200" y="242316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E1F36"/>
                </a:solidFill>
              </a:rPr>
              <a:t>deed at Sub-Registry, record at AC Land: nobody cross-checks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4A5D78"/>
                </a:solidFill>
              </a:rPr>
              <a:t>Buyers learn about a second sale, a pending case or khas status only in court.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pipeline from deed to citizen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D78"/>
                </a:solidFill>
              </a:rPr>
              <a:t>LandShield BD · demo prototype, synthetic data, not a government system · 3/10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914400" y="1371600"/>
            <a:ext cx="548640" cy="548640"/>
          </a:xfrm>
          <a:prstGeom prst="ellipse">
            <a:avLst/>
          </a:prstGeom>
          <a:solidFill>
            <a:srgbClr val="006A4E"/>
          </a:solidFill>
          <a:ln w="12700">
            <a:solidFill>
              <a:srgbClr val="006A4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0116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1F36"/>
                </a:solidFill>
              </a:rPr>
              <a:t>Scan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578608" y="1371600"/>
            <a:ext cx="548640" cy="548640"/>
          </a:xfrm>
          <a:prstGeom prst="ellipse">
            <a:avLst/>
          </a:prstGeom>
          <a:solidFill>
            <a:srgbClr val="006A4E"/>
          </a:solidFill>
          <a:ln w="12700">
            <a:solidFill>
              <a:srgbClr val="006A4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578608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2121408" y="20116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1F36"/>
                </a:solidFill>
              </a:rPr>
              <a:t>Verify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242816" y="1371600"/>
            <a:ext cx="548640" cy="548640"/>
          </a:xfrm>
          <a:prstGeom prst="ellipse">
            <a:avLst/>
          </a:prstGeom>
          <a:solidFill>
            <a:srgbClr val="006A4E"/>
          </a:solidFill>
          <a:ln w="12700">
            <a:solidFill>
              <a:srgbClr val="006A4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242816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3785616" y="20116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1F36"/>
                </a:solidFill>
              </a:rPr>
              <a:t>Detect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907024" y="1371600"/>
            <a:ext cx="548640" cy="548640"/>
          </a:xfrm>
          <a:prstGeom prst="ellipse">
            <a:avLst/>
          </a:prstGeom>
          <a:solidFill>
            <a:srgbClr val="006A4E"/>
          </a:solidFill>
          <a:ln w="12700">
            <a:solidFill>
              <a:srgbClr val="006A4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907024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5449824" y="20116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1F36"/>
                </a:solidFill>
              </a:rPr>
              <a:t>Mutate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571232" y="1371600"/>
            <a:ext cx="548640" cy="548640"/>
          </a:xfrm>
          <a:prstGeom prst="ellipse">
            <a:avLst/>
          </a:prstGeom>
          <a:solidFill>
            <a:srgbClr val="006A4E"/>
          </a:solidFill>
          <a:ln w="12700">
            <a:solidFill>
              <a:srgbClr val="006A4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571232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5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7114032" y="20116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1F36"/>
                </a:solidFill>
              </a:rPr>
              <a:t>Citizen check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24688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5D78"/>
                </a:solidFill>
              </a:rPr>
              <a:t>OCR (ben+eng) + rules extractor, confidence per field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2121408" y="24688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5D78"/>
                </a:solidFill>
              </a:rPr>
              <a:t>Human approves; SHA-256, Ed25519, hash-chained ledger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3785616" y="24688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5D78"/>
                </a:solidFill>
              </a:rPr>
              <a:t>14+ explainable rules score 0–100; every point has evidence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449824" y="24688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5D78"/>
                </a:solidFill>
              </a:rPr>
              <a:t>Approved deed auto-opens an e-Mutation with 6 pre-checks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114032" y="24688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5D78"/>
                </a:solidFill>
              </a:rPr>
              <a:t>Six-point checklist, verify-a-copy, signed QR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A4E"/>
                </a:solidFill>
              </a:rPr>
              <a:t>A human approves every record. Scores are indicators, never a legal finding.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 map: what judges will see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D78"/>
                </a:solidFill>
              </a:rPr>
              <a:t>LandShield BD · demo prototype, synthetic data, not a government system · 4/10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023360" cy="1508760"/>
          </a:xfrm>
          <a:prstGeom prst="roundRect">
            <a:avLst>
              <a:gd name="adj" fmla="val 3636"/>
            </a:avLst>
          </a:prstGeom>
          <a:solidFill>
            <a:srgbClr val="E6F2ED"/>
          </a:solidFill>
          <a:ln w="12700">
            <a:solidFill>
              <a:srgbClr val="D5DED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37160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A4E"/>
                </a:solidFill>
              </a:rPr>
              <a:t>Double sale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78308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E1F36"/>
                </a:solidFill>
              </a:rPr>
              <a:t>LP-10234: Doc1 then Doc2 → HIGH 70 with evidence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63440" y="1280160"/>
            <a:ext cx="4023360" cy="1508760"/>
          </a:xfrm>
          <a:prstGeom prst="roundRect">
            <a:avLst>
              <a:gd name="adj" fmla="val 3636"/>
            </a:avLst>
          </a:prstGeom>
          <a:solidFill>
            <a:srgbClr val="E6F2ED"/>
          </a:solidFill>
          <a:ln w="12700">
            <a:solidFill>
              <a:srgbClr val="D5DED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00600" y="137160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A4E"/>
                </a:solidFill>
              </a:rPr>
              <a:t>Mutation gap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800600" y="178308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E1F36"/>
                </a:solidFill>
              </a:rPr>
              <a:t>Sold but not mutated; mutated to another person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971800"/>
            <a:ext cx="4023360" cy="1508760"/>
          </a:xfrm>
          <a:prstGeom prst="roundRect">
            <a:avLst>
              <a:gd name="adj" fmla="val 3636"/>
            </a:avLst>
          </a:prstGeom>
          <a:solidFill>
            <a:srgbClr val="E6F2ED"/>
          </a:solidFill>
          <a:ln w="12700">
            <a:solidFill>
              <a:srgbClr val="D5DED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4360" y="306324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A4E"/>
                </a:solidFill>
              </a:rPr>
              <a:t>Encumbrances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94360" y="347472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E1F36"/>
                </a:solidFill>
              </a:rPr>
              <a:t>Active case and khas land flagged before you pay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63440" y="2971800"/>
            <a:ext cx="4023360" cy="1508760"/>
          </a:xfrm>
          <a:prstGeom prst="roundRect">
            <a:avLst>
              <a:gd name="adj" fmla="val 3636"/>
            </a:avLst>
          </a:prstGeom>
          <a:solidFill>
            <a:srgbClr val="E6F2ED"/>
          </a:solidFill>
          <a:ln w="12700">
            <a:solidFill>
              <a:srgbClr val="D5DED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00600" y="306324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A4E"/>
                </a:solidFill>
              </a:rPr>
              <a:t>Verify a copy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800600" y="347472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E1F36"/>
                </a:solidFill>
              </a:rPr>
              <a:t>Doc1_altered → ALTERED: land_area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D78"/>
                </a:solidFill>
              </a:rPr>
              <a:t>LandShield BD · demo prototype, synthetic data, not a government system · 5/10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1965960" cy="2011680"/>
          </a:xfrm>
          <a:prstGeom prst="roundRect">
            <a:avLst>
              <a:gd name="adj" fmla="val 2791"/>
            </a:avLst>
          </a:prstGeom>
          <a:solidFill>
            <a:srgbClr val="E6F2ED"/>
          </a:solidFill>
          <a:ln w="12700">
            <a:solidFill>
              <a:srgbClr val="D5DED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55448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A4E"/>
                </a:solidFill>
              </a:rPr>
              <a:t>Next.js 14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965960"/>
            <a:ext cx="1691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E1F36"/>
                </a:solidFill>
              </a:rPr>
              <a:t>EN + BN UI, map, graph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560320" y="1463040"/>
            <a:ext cx="1965960" cy="2011680"/>
          </a:xfrm>
          <a:prstGeom prst="roundRect">
            <a:avLst>
              <a:gd name="adj" fmla="val 2791"/>
            </a:avLst>
          </a:prstGeom>
          <a:solidFill>
            <a:srgbClr val="E6F2ED"/>
          </a:solidFill>
          <a:ln w="12700">
            <a:solidFill>
              <a:srgbClr val="D5DED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697480" y="155448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A4E"/>
                </a:solidFill>
              </a:rPr>
              <a:t>FastAPI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2697480" y="1965960"/>
            <a:ext cx="1691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E1F36"/>
                </a:solidFill>
              </a:rPr>
              <a:t>RBAC, rules, e-Mutation, archive search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663440" y="1463040"/>
            <a:ext cx="1965960" cy="2011680"/>
          </a:xfrm>
          <a:prstGeom prst="roundRect">
            <a:avLst>
              <a:gd name="adj" fmla="val 2791"/>
            </a:avLst>
          </a:prstGeom>
          <a:solidFill>
            <a:srgbClr val="E6F2ED"/>
          </a:solidFill>
          <a:ln w="12700">
            <a:solidFill>
              <a:srgbClr val="D5DED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00600" y="155448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A4E"/>
                </a:solidFill>
              </a:rPr>
              <a:t>AI package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800600" y="1965960"/>
            <a:ext cx="1691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E1F36"/>
                </a:solidFill>
              </a:rPr>
              <a:t>Preprocess, Tesseract, extractor, Isolation Forest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766560" y="1463040"/>
            <a:ext cx="1965960" cy="2011680"/>
          </a:xfrm>
          <a:prstGeom prst="roundRect">
            <a:avLst>
              <a:gd name="adj" fmla="val 2791"/>
            </a:avLst>
          </a:prstGeom>
          <a:solidFill>
            <a:srgbClr val="E6F2ED"/>
          </a:solidFill>
          <a:ln w="12700">
            <a:solidFill>
              <a:srgbClr val="D5DED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903720" y="155448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A4E"/>
                </a:solidFill>
              </a:rPr>
              <a:t>Trust layer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903720" y="1965960"/>
            <a:ext cx="1691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E1F36"/>
                </a:solidFill>
              </a:rPr>
              <a:t>SHA-256, Ed25519, ledger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840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5D78"/>
                </a:solidFill>
              </a:rPr>
              <a:t>SQLite demo → Postgres/PostGIS · Docker on Render · Netlify · 600+ backend and 360+ frontend tests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and OCR results, stated honestly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D78"/>
                </a:solidFill>
              </a:rPr>
              <a:t>LandShield BD · demo prototype, synthetic data, not a government system · 6/10</a:t>
            </a:r>
            <a:endParaRPr lang="en-US" sz="1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188720"/>
          <a:ext cx="512064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852160" y="1371600"/>
            <a:ext cx="28346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006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≈17 %</a:t>
            </a:r>
            <a:endParaRPr lang="en-US" sz="4400" dirty="0"/>
          </a:p>
          <a:p>
            <a:pPr indent="0" marL="0">
              <a:buNone/>
            </a:pPr>
            <a:r>
              <a:rPr lang="en-US" sz="1400" dirty="0">
                <a:solidFill>
                  <a:srgbClr val="0E1F36"/>
                </a:solidFill>
              </a:rPr>
              <a:t>mean Bangla CER (2 specimens × 3 variants)</a:t>
            </a:r>
            <a:endParaRPr lang="en-US" sz="44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4400" dirty="0"/>
          </a:p>
          <a:p>
            <a:pPr indent="0" marL="0">
              <a:buNone/>
            </a:pPr>
            <a:r>
              <a:rPr lang="en-US" sz="1400" dirty="0">
                <a:solidFill>
                  <a:srgbClr val="4A5D78"/>
                </a:solidFill>
              </a:rPr>
              <a:t>Rule engine: precision and recall 1.00 on seeded scenarios. Every Bangla document still goes to human review. All data is synthetic.</a:t>
            </a:r>
            <a:endParaRPr lang="en-US" sz="4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Integrity: tampering is visible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D78"/>
                </a:solidFill>
              </a:rPr>
              <a:t>LandShield BD · demo prototype, synthetic data, not a government system · 7/10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06040" cy="2651760"/>
          </a:xfrm>
          <a:prstGeom prst="roundRect">
            <a:avLst>
              <a:gd name="adj" fmla="val 2105"/>
            </a:avLst>
          </a:prstGeom>
          <a:solidFill>
            <a:srgbClr val="E6F2ED"/>
          </a:solidFill>
          <a:ln w="12700">
            <a:solidFill>
              <a:srgbClr val="D5DED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4630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A4E"/>
                </a:solidFill>
              </a:rPr>
              <a:t>Hash + signature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874520"/>
            <a:ext cx="233172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E1F36"/>
                </a:solidFill>
              </a:rPr>
              <a:t>Approved record hashed (SHA-256) and signed (Ed25519); public key at /public/keys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46120" y="1371600"/>
            <a:ext cx="2606040" cy="2651760"/>
          </a:xfrm>
          <a:prstGeom prst="roundRect">
            <a:avLst>
              <a:gd name="adj" fmla="val 2105"/>
            </a:avLst>
          </a:prstGeom>
          <a:solidFill>
            <a:srgbClr val="E6F2ED"/>
          </a:solidFill>
          <a:ln w="12700">
            <a:solidFill>
              <a:srgbClr val="D5DED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383280" y="14630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A4E"/>
                </a:solidFill>
              </a:rPr>
              <a:t>Hash-chained ledger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3383280" y="1874520"/>
            <a:ext cx="233172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E1F36"/>
                </a:solidFill>
              </a:rPr>
              <a:t>Edit a row directly in the DB → BROKEN at seq N; restore → INTACT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035040" y="1371600"/>
            <a:ext cx="2606040" cy="2651760"/>
          </a:xfrm>
          <a:prstGeom prst="roundRect">
            <a:avLst>
              <a:gd name="adj" fmla="val 2105"/>
            </a:avLst>
          </a:prstGeom>
          <a:solidFill>
            <a:srgbClr val="E6F2ED"/>
          </a:solidFill>
          <a:ln w="12700">
            <a:solidFill>
              <a:srgbClr val="D5DED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172200" y="14630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A4E"/>
                </a:solidFill>
              </a:rPr>
              <a:t>Signed QR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172200" y="1874520"/>
            <a:ext cx="233172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E1F36"/>
                </a:solidFill>
              </a:rPr>
              <a:t>Public page shows level, signature status and counts, no personal data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A5D78"/>
                </a:solidFill>
              </a:rPr>
              <a:t>Next: anchor the ledger head off-database.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Countrywide rollout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D78"/>
                </a:solidFill>
              </a:rPr>
              <a:t>LandShield BD · demo prototype, synthetic data, not a government system · 8/10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377440"/>
                <a:gridCol w="3840480"/>
              </a:tblGrid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A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A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A4E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E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Pilot, 6 months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E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upazila: Sub-Registry + AC Land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E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Read-only registration and mutation feeds; digitise pilot mouza khatians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E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District, 12 months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E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district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E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e-Mutation API, court cause-list feed, DC khas register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E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National, 24–36 months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E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 districts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E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Permissioned ledger nodes at the three offices; SMS check; bank API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 and governance model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D78"/>
                </a:solidFill>
              </a:rPr>
              <a:t>LandShield BD · demo prototype, synthetic data, not a government system · 9/10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06040" cy="2194560"/>
          </a:xfrm>
          <a:prstGeom prst="roundRect">
            <a:avLst>
              <a:gd name="adj" fmla="val 2500"/>
            </a:avLst>
          </a:prstGeom>
          <a:solidFill>
            <a:srgbClr val="E6F2ED"/>
          </a:solidFill>
          <a:ln w="12700">
            <a:solidFill>
              <a:srgbClr val="D5DED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4630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A4E"/>
                </a:solidFill>
              </a:rPr>
              <a:t>Citizens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874520"/>
            <a:ext cx="23317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E1F36"/>
                </a:solidFill>
              </a:rPr>
              <a:t>Check a plot in minutes, in Bangla, before paying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46120" y="1371600"/>
            <a:ext cx="2606040" cy="2194560"/>
          </a:xfrm>
          <a:prstGeom prst="roundRect">
            <a:avLst>
              <a:gd name="adj" fmla="val 2500"/>
            </a:avLst>
          </a:prstGeom>
          <a:solidFill>
            <a:srgbClr val="E6F2ED"/>
          </a:solidFill>
          <a:ln w="12700">
            <a:solidFill>
              <a:srgbClr val="D5DED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383280" y="14630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A4E"/>
                </a:solidFill>
              </a:rPr>
              <a:t>Officers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3383280" y="1874520"/>
            <a:ext cx="23317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E1F36"/>
                </a:solidFill>
              </a:rPr>
              <a:t>Auto-created mutation cases, pre-checks, audit trail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035040" y="1371600"/>
            <a:ext cx="2606040" cy="2194560"/>
          </a:xfrm>
          <a:prstGeom prst="roundRect">
            <a:avLst>
              <a:gd name="adj" fmla="val 2500"/>
            </a:avLst>
          </a:prstGeom>
          <a:solidFill>
            <a:srgbClr val="E6F2ED"/>
          </a:solidFill>
          <a:ln w="12700">
            <a:solidFill>
              <a:srgbClr val="D5DED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172200" y="14630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A4E"/>
                </a:solidFill>
              </a:rPr>
              <a:t>Government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172200" y="1874520"/>
            <a:ext cx="23317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E1F36"/>
                </a:solidFill>
              </a:rPr>
              <a:t>Fewer double sales reaching court; open, verifiable records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5D78"/>
                </a:solidFill>
              </a:rPr>
              <a:t>Government-operated, human-in-the-loop, privacy by design (hashed identifiers, no personal data on public pages).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DEEDGUARD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LandShield BD · demo prototype, synthetic data, not a government system · 10/10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4572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Alif Mahmud</a:t>
            </a:r>
            <a:endParaRPr lang="en-US" sz="2200" dirty="0"/>
          </a:p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</a:rPr>
              <a:t>Backend, risk engine, e-Mutation, ledger</a:t>
            </a:r>
            <a:endParaRPr lang="en-US" sz="22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 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Ayesha Hamid Mithila</a:t>
            </a:r>
            <a:endParaRPr lang="en-US" sz="2200" dirty="0"/>
          </a:p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</a:rPr>
              <a:t>Frontend, OCR pipeline, UI, deployment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Searchable. Connected. Verifiable. Risk-aware.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120640" y="1371600"/>
            <a:ext cx="3566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AI disclosure: Claude helped write code, tests and docs; the team reviewed everything. No generative AI runs at runtime.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LandShield BD — Pitch deck</dc:title>
  <dc:subject>PptxGenJS Presentation</dc:subject>
  <dc:creator>Team DEEDGUARD</dc:creator>
  <cp:lastModifiedBy>Team DEEDGUARD</cp:lastModifiedBy>
  <cp:revision>1</cp:revision>
  <dcterms:created xsi:type="dcterms:W3CDTF">2026-10-06T13:18:33Z</dcterms:created>
  <dcterms:modified xsi:type="dcterms:W3CDTF">2026-10-06T13:18:33Z</dcterms:modified>
</cp:coreProperties>
</file>